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9cd9e1dee69a52de49706ad7e52fe96"/>
          <p:cNvPicPr>
            <a:picLocks noChangeAspect="1"/>
          </p:cNvPicPr>
          <p:nvPr/>
        </p:nvPicPr>
        <p:blipFill>
          <a:blip r:embed="rId1"/>
          <a:srcRect b="53269"/>
          <a:stretch>
            <a:fillRect/>
          </a:stretch>
        </p:blipFill>
        <p:spPr>
          <a:xfrm>
            <a:off x="-469900" y="0"/>
            <a:ext cx="13132435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13435" y="414655"/>
            <a:ext cx="10577830" cy="28613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en-US" sz="6000">
                <a:ln>
                  <a:noFill/>
                </a:ln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roadway" panose="04040905080B02020502" charset="0"/>
                <a:cs typeface="Broadway" panose="04040905080B02020502" charset="0"/>
              </a:rPr>
              <a:t>EduNet Secondary School</a:t>
            </a:r>
            <a:endParaRPr lang="en-US" altLang="en-US" sz="6000">
              <a:ln>
                <a:noFill/>
              </a:ln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Broadway" panose="04040905080B02020502" charset="0"/>
              <a:cs typeface="Broadway" panose="04040905080B02020502" charset="0"/>
            </a:endParaRPr>
          </a:p>
          <a:p>
            <a:pPr algn="ctr"/>
            <a:r>
              <a:rPr lang="en-US" altLang="en-US" sz="6000">
                <a:ln>
                  <a:noFill/>
                </a:ln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roadway" panose="04040905080B02020502" charset="0"/>
                <a:cs typeface="Broadway" panose="04040905080B02020502" charset="0"/>
              </a:rPr>
              <a:t>Projet d’Infrastructure IT &amp; Sécurité Réseau</a:t>
            </a:r>
            <a:endParaRPr lang="en-US" altLang="en-US" sz="6000">
              <a:ln>
                <a:noFill/>
              </a:ln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333240" y="47809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>
                <a:ln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lgerian" panose="04020705040A02060702" charset="0"/>
                <a:cs typeface="Algerian" panose="04020705040A02060702" charset="0"/>
              </a:rPr>
              <a:t>Le 25/01/2026</a:t>
            </a:r>
            <a:endParaRPr lang="en-US">
              <a:ln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charset="0"/>
              <a:cs typeface="Algerian" panose="04020705040A02060702" charset="0"/>
            </a:endParaRPr>
          </a:p>
          <a:p>
            <a:pPr algn="ctr"/>
            <a:r>
              <a:rPr lang="en-US">
                <a:ln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lgerian" panose="04020705040A02060702" charset="0"/>
                <a:cs typeface="Algerian" panose="04020705040A02060702" charset="0"/>
              </a:rPr>
              <a:t>Presente par : Elfath Mounir </a:t>
            </a:r>
            <a:endParaRPr lang="en-US">
              <a:ln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9cd9e1dee69a52de49706ad7e52fe96"/>
          <p:cNvPicPr>
            <a:picLocks noChangeAspect="1"/>
          </p:cNvPicPr>
          <p:nvPr/>
        </p:nvPicPr>
        <p:blipFill>
          <a:blip r:embed="rId1"/>
          <a:srcRect b="53269"/>
          <a:stretch>
            <a:fillRect/>
          </a:stretch>
        </p:blipFill>
        <p:spPr>
          <a:xfrm>
            <a:off x="-469900" y="0"/>
            <a:ext cx="13132435" cy="685800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-521970" y="0"/>
            <a:ext cx="13235940" cy="6858000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371475" y="1242060"/>
            <a:ext cx="5742940" cy="5083810"/>
            <a:chOff x="1527" y="991"/>
            <a:chExt cx="9044" cy="8006"/>
          </a:xfrm>
        </p:grpSpPr>
        <p:sp>
          <p:nvSpPr>
            <p:cNvPr id="3" name="Oval 2"/>
            <p:cNvSpPr/>
            <p:nvPr/>
          </p:nvSpPr>
          <p:spPr>
            <a:xfrm>
              <a:off x="1527" y="1300"/>
              <a:ext cx="381" cy="1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1909" y="991"/>
              <a:ext cx="640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US" sz="2800">
                  <a:solidFill>
                    <a:schemeClr val="bg1"/>
                  </a:solidFill>
                  <a:latin typeface="Algerian" panose="04020705040A02060702" charset="0"/>
                  <a:cs typeface="Algerian" panose="04020705040A02060702" charset="0"/>
                </a:rPr>
                <a:t>Objectif du projet</a:t>
              </a:r>
              <a:endParaRPr lang="en-US" altLang="en-US" sz="280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1774" y="2068"/>
              <a:ext cx="8797" cy="6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Concevoir une infrastructure réseau sécurisée pour une école secondaire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Supporter :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400 él</a:t>
              </a:r>
              <a:r>
                <a:rPr lang="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ves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20 enseignants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Administration et direction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Assurer :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Sécurité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Scalabilité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Gestion centralisée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204585" y="1161415"/>
            <a:ext cx="5742940" cy="3853180"/>
            <a:chOff x="1527" y="991"/>
            <a:chExt cx="9044" cy="6068"/>
          </a:xfrm>
        </p:grpSpPr>
        <p:sp>
          <p:nvSpPr>
            <p:cNvPr id="11" name="Oval 10"/>
            <p:cNvSpPr/>
            <p:nvPr/>
          </p:nvSpPr>
          <p:spPr>
            <a:xfrm>
              <a:off x="1527" y="1300"/>
              <a:ext cx="381" cy="1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1909" y="991"/>
              <a:ext cx="640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US" sz="2800">
                  <a:solidFill>
                    <a:schemeClr val="bg1"/>
                  </a:solidFill>
                  <a:latin typeface="Algerian" panose="04020705040A02060702" charset="0"/>
                  <a:cs typeface="Algerian" panose="04020705040A02060702" charset="0"/>
                </a:rPr>
                <a:t>Profil de l’école</a:t>
              </a:r>
              <a:endParaRPr lang="en-US" altLang="en-US" sz="280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1774" y="2068"/>
              <a:ext cx="8797" cy="4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Type : </a:t>
              </a:r>
              <a:r>
                <a:rPr lang="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É</a:t>
              </a:r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cole secondaire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É</a:t>
              </a:r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tages : 4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É</a:t>
              </a:r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l</a:t>
              </a:r>
              <a:r>
                <a:rPr lang="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ves : 400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Enseignants : 20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Services IT internes (serveurs, fichiers)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9cd9e1dee69a52de49706ad7e52fe96"/>
          <p:cNvPicPr>
            <a:picLocks noChangeAspect="1"/>
          </p:cNvPicPr>
          <p:nvPr/>
        </p:nvPicPr>
        <p:blipFill>
          <a:blip r:embed="rId1"/>
          <a:srcRect b="53269"/>
          <a:stretch>
            <a:fillRect/>
          </a:stretch>
        </p:blipFill>
        <p:spPr>
          <a:xfrm>
            <a:off x="-469900" y="0"/>
            <a:ext cx="13132435" cy="685800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-521970" y="0"/>
            <a:ext cx="13235940" cy="6858000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371475" y="1242060"/>
            <a:ext cx="5742940" cy="4037330"/>
            <a:chOff x="1527" y="991"/>
            <a:chExt cx="9044" cy="6358"/>
          </a:xfrm>
        </p:grpSpPr>
        <p:sp>
          <p:nvSpPr>
            <p:cNvPr id="3" name="Oval 2"/>
            <p:cNvSpPr/>
            <p:nvPr/>
          </p:nvSpPr>
          <p:spPr>
            <a:xfrm>
              <a:off x="1527" y="1300"/>
              <a:ext cx="381" cy="1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1909" y="991"/>
              <a:ext cx="737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US" sz="2800">
                  <a:solidFill>
                    <a:schemeClr val="bg1"/>
                  </a:solidFill>
                  <a:latin typeface="Algerian" panose="04020705040A02060702" charset="0"/>
                  <a:cs typeface="Algerian" panose="04020705040A02060702" charset="0"/>
                </a:rPr>
                <a:t>Architecture réseau</a:t>
              </a:r>
              <a:endParaRPr lang="en-US" altLang="en-US" sz="280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1774" y="2068"/>
              <a:ext cx="8797" cy="5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Routeur principal (Core Router)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lnSpc>
                  <a:spcPct val="130000"/>
                </a:lnSpc>
              </a:pP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Switch principal (Core Switch)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Switchs d’acc</a:t>
              </a:r>
              <a:r>
                <a:rPr lang="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 par étage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Salle serveurs dédiée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Architecture hiérarchique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r>
                <a:rPr lang="en-US" altLang="en-US" sz="20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(Schéma logique ici)</a:t>
              </a:r>
              <a:endPara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</p:grpSp>
      <p:pic>
        <p:nvPicPr>
          <p:cNvPr id="14" name="Picture 13" descr="physical-diagram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435" y="1428115"/>
            <a:ext cx="7143750" cy="4184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9cd9e1dee69a52de49706ad7e52fe96"/>
          <p:cNvPicPr>
            <a:picLocks noChangeAspect="1"/>
          </p:cNvPicPr>
          <p:nvPr/>
        </p:nvPicPr>
        <p:blipFill>
          <a:blip r:embed="rId1"/>
          <a:srcRect b="53269"/>
          <a:stretch>
            <a:fillRect/>
          </a:stretch>
        </p:blipFill>
        <p:spPr>
          <a:xfrm>
            <a:off x="-469900" y="0"/>
            <a:ext cx="13132435" cy="685800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-521970" y="0"/>
            <a:ext cx="13235940" cy="6858000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0" name="Group 9"/>
          <p:cNvGrpSpPr/>
          <p:nvPr>
            <p:custDataLst>
              <p:tags r:id="rId2"/>
            </p:custDataLst>
          </p:nvPr>
        </p:nvGrpSpPr>
        <p:grpSpPr>
          <a:xfrm>
            <a:off x="6204585" y="1161415"/>
            <a:ext cx="4306570" cy="521970"/>
            <a:chOff x="1527" y="991"/>
            <a:chExt cx="6782" cy="822"/>
          </a:xfrm>
        </p:grpSpPr>
        <p:sp>
          <p:nvSpPr>
            <p:cNvPr id="11" name="Oval 10"/>
            <p:cNvSpPr/>
            <p:nvPr>
              <p:custDataLst>
                <p:tags r:id="rId3"/>
              </p:custDataLst>
            </p:nvPr>
          </p:nvSpPr>
          <p:spPr>
            <a:xfrm>
              <a:off x="1527" y="1300"/>
              <a:ext cx="381" cy="1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Text Box 11"/>
            <p:cNvSpPr txBox="1"/>
            <p:nvPr>
              <p:custDataLst>
                <p:tags r:id="rId4"/>
              </p:custDataLst>
            </p:nvPr>
          </p:nvSpPr>
          <p:spPr>
            <a:xfrm>
              <a:off x="1909" y="991"/>
              <a:ext cx="640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US" sz="2800">
                  <a:solidFill>
                    <a:schemeClr val="bg1"/>
                  </a:solidFill>
                  <a:latin typeface="Algerian" panose="04020705040A02060702" charset="0"/>
                  <a:cs typeface="Algerian" panose="04020705040A02060702" charset="0"/>
                </a:rPr>
                <a:t>Plan d’adressage IP</a:t>
              </a:r>
              <a:endParaRPr lang="en-US" altLang="en-US" sz="280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endParaRPr>
            </a:p>
          </p:txBody>
        </p:sp>
      </p:grpSp>
      <p:sp>
        <p:nvSpPr>
          <p:cNvPr id="6" name="Oval 5"/>
          <p:cNvSpPr/>
          <p:nvPr>
            <p:custDataLst>
              <p:tags r:id="rId5"/>
            </p:custDataLst>
          </p:nvPr>
        </p:nvSpPr>
        <p:spPr>
          <a:xfrm>
            <a:off x="890905" y="1377315"/>
            <a:ext cx="241935" cy="11747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>
            <p:custDataLst>
              <p:tags r:id="rId6"/>
            </p:custDataLst>
          </p:nvPr>
        </p:nvSpPr>
        <p:spPr>
          <a:xfrm>
            <a:off x="1133475" y="11811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Segmentation VLAN</a:t>
            </a:r>
            <a:endParaRPr lang="en-US" altLang="en-US" sz="2800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graphicFrame>
        <p:nvGraphicFramePr>
          <p:cNvPr id="14" name="Table 13"/>
          <p:cNvGraphicFramePr/>
          <p:nvPr>
            <p:custDataLst>
              <p:tags r:id="rId7"/>
            </p:custDataLst>
          </p:nvPr>
        </p:nvGraphicFramePr>
        <p:xfrm>
          <a:off x="890905" y="2402840"/>
          <a:ext cx="4182745" cy="2197735"/>
        </p:xfrm>
        <a:graphic>
          <a:graphicData uri="http://schemas.openxmlformats.org/drawingml/2006/table">
            <a:tbl>
              <a:tblPr/>
              <a:tblGrid>
                <a:gridCol w="1304290"/>
                <a:gridCol w="1492250"/>
                <a:gridCol w="1386205"/>
              </a:tblGrid>
              <a:tr h="633095"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VLAN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Nom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Usage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10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ADMIN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Administration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3845"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20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TEACHERS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Enseignants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0675"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30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STUDENTS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Élèves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40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DMZ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Serveurs</a:t>
                      </a:r>
                      <a:endParaRPr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50</a:t>
                      </a:r>
                      <a:endParaRPr lang="en-US"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CLASSROOM</a:t>
                      </a:r>
                      <a:endParaRPr lang="en-US"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Le</a:t>
                      </a:r>
                      <a:r>
                        <a:rPr lang="" altLang="en-US"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ç</a:t>
                      </a:r>
                      <a:r>
                        <a:rPr lang="en-US" altLang="en-US" sz="1100">
                          <a:solidFill>
                            <a:schemeClr val="bg1"/>
                          </a:solidFill>
                          <a:latin typeface="Arial Black" panose="020B0A04020102020204" charset="0"/>
                          <a:cs typeface="Arial Black" panose="020B0A04020102020204" charset="0"/>
                        </a:rPr>
                        <a:t>ons</a:t>
                      </a:r>
                      <a:endParaRPr lang="en-US" altLang="en-US" sz="11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 Box 14"/>
          <p:cNvSpPr txBox="1"/>
          <p:nvPr/>
        </p:nvSpPr>
        <p:spPr>
          <a:xfrm>
            <a:off x="535305" y="4764405"/>
            <a:ext cx="5712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✔ Isolation  ✔ Sécurité  ✔ Performance</a:t>
            </a:r>
            <a:endParaRPr lang="en-US" altLang="en-US"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6096000" y="2539365"/>
            <a:ext cx="5080000" cy="2584450"/>
          </a:xfrm>
          <a:prstGeom prst="rect">
            <a:avLst/>
          </a:prstGeom>
        </p:spPr>
        <p:txBody>
          <a:bodyPr>
            <a:spAutoFit/>
          </a:bodyPr>
          <a:p>
            <a:pPr>
              <a:buFont typeface="Arial" panose="020B0604020202020204"/>
              <a:buChar char="•"/>
            </a:pPr>
            <a:r>
              <a:rPr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Un sous-réseau /24 par VLAN</a:t>
            </a: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r>
              <a:rPr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Routage inter-VLAN via le routeur</a:t>
            </a: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>
              <a:buFont typeface="Arial" panose="020B0604020202020204"/>
              <a:buNone/>
            </a:pP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Exemple :</a:t>
            </a: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r>
              <a:rPr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192.168.10.0/24 → Admin</a:t>
            </a: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r>
              <a:rPr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192.168.30.0/24 → Students</a:t>
            </a: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9cd9e1dee69a52de49706ad7e52fe96"/>
          <p:cNvPicPr>
            <a:picLocks noChangeAspect="1"/>
          </p:cNvPicPr>
          <p:nvPr/>
        </p:nvPicPr>
        <p:blipFill>
          <a:blip r:embed="rId1"/>
          <a:srcRect b="53269"/>
          <a:stretch>
            <a:fillRect/>
          </a:stretch>
        </p:blipFill>
        <p:spPr>
          <a:xfrm>
            <a:off x="-469900" y="0"/>
            <a:ext cx="13132435" cy="685800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-521970" y="0"/>
            <a:ext cx="13235940" cy="6858000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709545" y="1181100"/>
            <a:ext cx="6381750" cy="521970"/>
            <a:chOff x="779" y="1860"/>
            <a:chExt cx="10050" cy="822"/>
          </a:xfrm>
        </p:grpSpPr>
        <p:sp>
          <p:nvSpPr>
            <p:cNvPr id="6" name="Oval 5"/>
            <p:cNvSpPr/>
            <p:nvPr>
              <p:custDataLst>
                <p:tags r:id="rId2"/>
              </p:custDataLst>
            </p:nvPr>
          </p:nvSpPr>
          <p:spPr>
            <a:xfrm>
              <a:off x="779" y="2169"/>
              <a:ext cx="381" cy="1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3" name="Text Box 12"/>
            <p:cNvSpPr txBox="1"/>
            <p:nvPr>
              <p:custDataLst>
                <p:tags r:id="rId3"/>
              </p:custDataLst>
            </p:nvPr>
          </p:nvSpPr>
          <p:spPr>
            <a:xfrm>
              <a:off x="1049" y="1860"/>
              <a:ext cx="978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US" sz="2800">
                  <a:solidFill>
                    <a:schemeClr val="bg1"/>
                  </a:solidFill>
                  <a:latin typeface="Algerian" panose="04020705040A02060702" charset="0"/>
                  <a:cs typeface="Algerian" panose="04020705040A02060702" charset="0"/>
                </a:rPr>
                <a:t>Simulation (Packet Tracer)</a:t>
              </a:r>
              <a:endParaRPr lang="en-US" altLang="en-US" sz="280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3554095" y="2220278"/>
            <a:ext cx="5080000" cy="2799715"/>
          </a:xfrm>
          <a:prstGeom prst="rect">
            <a:avLst/>
          </a:prstGeom>
        </p:spPr>
        <p:txBody>
          <a:bodyPr>
            <a:spAutoFit/>
          </a:bodyPr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VLANs configurés</a:t>
            </a: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Trunks entre switches</a:t>
            </a: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Routage inter-VLA</a:t>
            </a:r>
            <a:r>
              <a:rPr lang="en-US"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N</a:t>
            </a:r>
            <a:endParaRPr lang="en-US"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Dhcp dans Router</a:t>
            </a: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>
              <a:buFont typeface="Arial" panose="020B0604020202020204"/>
              <a:buNone/>
            </a:pP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EtherChannel (Core ↔ Access)</a:t>
            </a: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Tests de connectivité réussis</a:t>
            </a:r>
            <a:endParaRPr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9cd9e1dee69a52de49706ad7e52fe96"/>
          <p:cNvPicPr>
            <a:picLocks noChangeAspect="1"/>
          </p:cNvPicPr>
          <p:nvPr/>
        </p:nvPicPr>
        <p:blipFill>
          <a:blip r:embed="rId1"/>
          <a:srcRect b="53269"/>
          <a:stretch>
            <a:fillRect/>
          </a:stretch>
        </p:blipFill>
        <p:spPr>
          <a:xfrm>
            <a:off x="-469900" y="0"/>
            <a:ext cx="13132435" cy="685800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-521970" y="0"/>
            <a:ext cx="13235940" cy="6858000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>
            <p:custDataLst>
              <p:tags r:id="rId2"/>
            </p:custDataLst>
          </p:nvPr>
        </p:nvSpPr>
        <p:spPr>
          <a:xfrm>
            <a:off x="4191000" y="765810"/>
            <a:ext cx="3176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Windows Server</a:t>
            </a:r>
            <a:endParaRPr lang="en-US" altLang="en-US" sz="2800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69875" y="1553210"/>
            <a:ext cx="6186170" cy="4807585"/>
            <a:chOff x="905" y="2446"/>
            <a:chExt cx="9742" cy="7571"/>
          </a:xfrm>
        </p:grpSpPr>
        <p:sp>
          <p:nvSpPr>
            <p:cNvPr id="3" name="Text Box 2"/>
            <p:cNvSpPr txBox="1"/>
            <p:nvPr/>
          </p:nvSpPr>
          <p:spPr>
            <a:xfrm>
              <a:off x="905" y="3412"/>
              <a:ext cx="9742" cy="6605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indent="0">
                <a:buFont typeface="Arial" panose="020B0604020202020204"/>
                <a:buNone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Rôle du Windows Server :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Serveur central de l’infrastructure scolaire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Gestion des utilisateurs et des ressources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Sécurité et contrôle d’acc</a:t>
              </a: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Services déployés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Active Directory (AD DS) with Powershell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Comptes él</a:t>
              </a: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ves, enseignants, administration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DNS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Résolution des noms internes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File Server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Partage de fichiers sécurisé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FTP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>
                <a:buFont typeface="Arial" panose="020B0604020202020204"/>
                <a:buChar char="•"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Acc</a:t>
              </a: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 contrôlé pour enseignants/admin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257" y="2446"/>
              <a:ext cx="9082" cy="759"/>
              <a:chOff x="779" y="1940"/>
              <a:chExt cx="9082" cy="759"/>
            </a:xfrm>
          </p:grpSpPr>
          <p:sp>
            <p:nvSpPr>
              <p:cNvPr id="8" name="Oval 7"/>
              <p:cNvSpPr/>
              <p:nvPr>
                <p:custDataLst>
                  <p:tags r:id="rId3"/>
                </p:custDataLst>
              </p:nvPr>
            </p:nvSpPr>
            <p:spPr>
              <a:xfrm>
                <a:off x="779" y="2169"/>
                <a:ext cx="381" cy="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9" name="Text 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049" y="1940"/>
                <a:ext cx="8812" cy="7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en-US" sz="2400">
                    <a:solidFill>
                      <a:schemeClr val="bg1"/>
                    </a:solidFill>
                    <a:latin typeface="Algerian" panose="04020705040A02060702" charset="0"/>
                    <a:cs typeface="Algerian" panose="04020705040A02060702" charset="0"/>
                  </a:rPr>
                  <a:t>Windows Server – Infrastructure</a:t>
                </a:r>
                <a:endParaRPr lang="en-US" altLang="en-US" sz="2400">
                  <a:solidFill>
                    <a:schemeClr val="bg1"/>
                  </a:solidFill>
                  <a:latin typeface="Algerian" panose="04020705040A02060702" charset="0"/>
                  <a:cs typeface="Algerian" panose="04020705040A02060702" charset="0"/>
                </a:endParaRP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6260465" y="1564005"/>
            <a:ext cx="6186170" cy="4807585"/>
            <a:chOff x="905" y="2462"/>
            <a:chExt cx="9742" cy="7571"/>
          </a:xfrm>
        </p:grpSpPr>
        <p:sp>
          <p:nvSpPr>
            <p:cNvPr id="12" name="Text Box 11"/>
            <p:cNvSpPr txBox="1"/>
            <p:nvPr/>
          </p:nvSpPr>
          <p:spPr>
            <a:xfrm>
              <a:off x="905" y="3428"/>
              <a:ext cx="9742" cy="6605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indent="0">
                <a:buFont typeface="Arial" panose="020B0604020202020204"/>
                <a:buNone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Serveur placé dans la DMZ (VLAN 40)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Pare-feu Windows activé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Acc</a:t>
              </a: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 limité par :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ACL sur le routeur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R</a:t>
              </a: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gles de pare-feu Windows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Principe :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Administrateurs : acc</a:t>
              </a: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 complet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Enseignants : acc</a:t>
              </a: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 limité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  <a:p>
              <a:pPr indent="0">
                <a:buFont typeface="Arial" panose="020B0604020202020204"/>
                <a:buNone/>
              </a:pP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É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l</a:t>
              </a: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ves : aucun acc</a:t>
              </a:r>
              <a:r>
                <a:rPr lang="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è</a:t>
              </a:r>
              <a:r>
                <a:rPr lang="en-US" altLang="en-US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s serveur</a:t>
              </a:r>
              <a:endPara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1257" y="2462"/>
              <a:ext cx="8341" cy="949"/>
              <a:chOff x="779" y="1956"/>
              <a:chExt cx="8341" cy="949"/>
            </a:xfrm>
          </p:grpSpPr>
          <p:sp>
            <p:nvSpPr>
              <p:cNvPr id="15" name="Oval 14"/>
              <p:cNvSpPr/>
              <p:nvPr>
                <p:custDataLst>
                  <p:tags r:id="rId5"/>
                </p:custDataLst>
              </p:nvPr>
            </p:nvSpPr>
            <p:spPr>
              <a:xfrm>
                <a:off x="779" y="2169"/>
                <a:ext cx="381" cy="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6" name="Text Box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49" y="1956"/>
                <a:ext cx="8071" cy="94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en-US" sz="2400">
                    <a:solidFill>
                      <a:schemeClr val="bg1"/>
                    </a:solidFill>
                    <a:latin typeface="Algerian" panose="04020705040A02060702" charset="0"/>
                    <a:cs typeface="Algerian" panose="04020705040A02060702" charset="0"/>
                  </a:rPr>
                  <a:t>Windows Server – Sécurité</a:t>
                </a:r>
                <a:endParaRPr lang="en-US" altLang="en-US" sz="2400">
                  <a:solidFill>
                    <a:schemeClr val="bg1"/>
                  </a:solidFill>
                  <a:latin typeface="Algerian" panose="04020705040A02060702" charset="0"/>
                  <a:cs typeface="Algerian" panose="04020705040A02060702" charset="0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9cd9e1dee69a52de49706ad7e52fe96"/>
          <p:cNvPicPr>
            <a:picLocks noChangeAspect="1"/>
          </p:cNvPicPr>
          <p:nvPr/>
        </p:nvPicPr>
        <p:blipFill>
          <a:blip r:embed="rId1"/>
          <a:srcRect b="53269"/>
          <a:stretch>
            <a:fillRect/>
          </a:stretch>
        </p:blipFill>
        <p:spPr>
          <a:xfrm>
            <a:off x="-469900" y="0"/>
            <a:ext cx="13132435" cy="6858000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-521970" y="0"/>
            <a:ext cx="13235940" cy="6858000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>
            <p:custDataLst>
              <p:tags r:id="rId2"/>
            </p:custDataLst>
          </p:nvPr>
        </p:nvSpPr>
        <p:spPr>
          <a:xfrm>
            <a:off x="3164840" y="765810"/>
            <a:ext cx="60712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20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Conclusion &amp; Perspectives</a:t>
            </a:r>
            <a:endParaRPr lang="en-US" altLang="en-US" sz="2800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24810" y="1804670"/>
            <a:ext cx="6367145" cy="338518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>
              <a:buFont typeface="Arial" panose="020B0604020202020204"/>
              <a:buNone/>
            </a:pPr>
            <a:r>
              <a:rPr lang="en-US" altLang="en-US" sz="24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Réseau sécurisé et évolutif</a:t>
            </a:r>
            <a:endParaRPr lang="en-US" altLang="en-US" sz="24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 algn="ctr">
              <a:buFont typeface="Arial" panose="020B0604020202020204"/>
              <a:buNone/>
            </a:pPr>
            <a:r>
              <a:rPr lang="en-US" altLang="en-US" sz="24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Simulation réaliste</a:t>
            </a:r>
            <a:endParaRPr lang="en-US" altLang="en-US" sz="24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 algn="ctr">
              <a:buFont typeface="Arial" panose="020B0604020202020204"/>
              <a:buNone/>
            </a:pPr>
            <a:endParaRPr lang="en-US" altLang="en-US" sz="24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 algn="ctr">
              <a:buFont typeface="Arial" panose="020B0604020202020204"/>
              <a:buNone/>
            </a:pPr>
            <a:r>
              <a:rPr lang="en-US" altLang="en-US" sz="24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Projet prêt pour extension :</a:t>
            </a:r>
            <a:endParaRPr lang="en-US" altLang="en-US" sz="24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 algn="ctr">
              <a:buFont typeface="Arial" panose="020B0604020202020204"/>
              <a:buNone/>
            </a:pPr>
            <a:endParaRPr lang="en-US" altLang="en-US" sz="24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 algn="ctr">
              <a:buFont typeface="Arial" panose="020B0604020202020204"/>
              <a:buNone/>
            </a:pPr>
            <a:r>
              <a:rPr lang="en-US" altLang="en-US" sz="24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NAT / Internet</a:t>
            </a:r>
            <a:endParaRPr lang="en-US" altLang="en-US" sz="24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 algn="ctr">
              <a:buFont typeface="Arial" panose="020B0604020202020204"/>
              <a:buNone/>
            </a:pPr>
            <a:r>
              <a:rPr lang="en-US" altLang="en-US" sz="24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Supervision réseau</a:t>
            </a:r>
            <a:endParaRPr lang="en-US" altLang="en-US" sz="24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indent="0" algn="ctr">
              <a:buFont typeface="Arial" panose="020B0604020202020204"/>
              <a:buNone/>
            </a:pPr>
            <a:r>
              <a:rPr lang="en-US" altLang="en-US" sz="24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Sauvegarde</a:t>
            </a:r>
            <a:endParaRPr lang="en-US" altLang="en-US" sz="24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919730" y="5652135"/>
            <a:ext cx="63741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Ce projet m'a permis de comprendre la conception d'une infrastructure sécurisée réelle.</a:t>
            </a:r>
            <a:endParaRPr lang="en-US" altLang="en-US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2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3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4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5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6.xml><?xml version="1.0" encoding="utf-8"?>
<p:tagLst xmlns:p="http://schemas.openxmlformats.org/presentationml/2006/main">
  <p:tag name="TABLE_ENDDRAG_ORIGIN_RECT" val="329*173"/>
  <p:tag name="TABLE_ENDDRAG_RECT" val="70*189*329*173"/>
</p:tagLst>
</file>

<file path=ppt/tags/tag7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8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9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10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11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12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13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ags/tag14.xml><?xml version="1.0" encoding="utf-8"?>
<p:tagLst xmlns:p="http://schemas.openxmlformats.org/presentationml/2006/main">
  <p:tag name="KSO_WM_DIAGRAM_VIRTUALLY_FRAME" val="{&quot;height&quot;:42.65,&quot;left&quot;:70.15,&quot;top&quot;:91.45,&quot;width&quot;:757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1904</Words>
  <Application>WPS Presentation</Application>
  <PresentationFormat>Widescreen</PresentationFormat>
  <Paragraphs>160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5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 Black</vt:lpstr>
      <vt:lpstr>Agency FB</vt:lpstr>
      <vt:lpstr>Aldhabi</vt:lpstr>
      <vt:lpstr>Algerian</vt:lpstr>
      <vt:lpstr>Arial Rounded MT Bold</vt:lpstr>
      <vt:lpstr>Arial Narrow</vt:lpstr>
      <vt:lpstr>Bahnschrift Light SemiCondensed</vt:lpstr>
      <vt:lpstr>Bahnschrift SemiLight</vt:lpstr>
      <vt:lpstr>Baskerville Old Face</vt:lpstr>
      <vt:lpstr>Bahnschrift Light Condensed</vt:lpstr>
      <vt:lpstr>Bahnschrift Light</vt:lpstr>
      <vt:lpstr>Bahnschrift SemiBold</vt:lpstr>
      <vt:lpstr>Bahnschrift SemiBold Condensed</vt:lpstr>
      <vt:lpstr>Bell MT</vt:lpstr>
      <vt:lpstr>Bauhaus 93</vt:lpstr>
      <vt:lpstr>Bernard MT Condensed</vt:lpstr>
      <vt:lpstr>Blackadder ITC</vt:lpstr>
      <vt:lpstr>Bodoni MT Black</vt:lpstr>
      <vt:lpstr>Broadway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DELL</cp:lastModifiedBy>
  <cp:revision>4</cp:revision>
  <dcterms:created xsi:type="dcterms:W3CDTF">2025-07-23T00:59:00Z</dcterms:created>
  <dcterms:modified xsi:type="dcterms:W3CDTF">2026-01-31T20:16:48Z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5EE27A052176453EA5ED2C843F84B2D8_11</vt:lpwstr>
  </property>
  <property fmtid="{D5CDD505-2E9C-101B-9397-08002B2CF9AE}" pid="3" name="KSOProductBuildVer">
    <vt:lpwstr>1033-12.2.0.23155</vt:lpwstr>
  </property>
</Properties>
</file>